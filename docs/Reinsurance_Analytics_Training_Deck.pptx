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Reinsurance Portfolio Analytics &amp; Data Assurance Platform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Global Reinsurance Training &amp; Operational Playbook | AXA XL Portfolio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77295" cy="4846320"/>
          </a:xfrm>
          <a:prstGeom prst="rect">
            <a:avLst/>
          </a:prstGeom>
          <a:solidFill>
            <a:srgbClr val="F4F6F9"/>
          </a:solidFill>
          <a:ln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1800">
                <a:solidFill>
                  <a:srgbClr val="1E293B"/>
                </a:solidFill>
              </a:defRPr>
            </a:pPr>
            <a:r>
              <a:t>• Single Version of the Truth for Underwriting, Actuarial &amp; Senior Management</a:t>
            </a:r>
          </a:p>
          <a:p>
            <a:pPr>
              <a:spcAft>
                <a:spcPts val="2000"/>
              </a:spcAft>
              <a:defRPr sz="1800">
                <a:solidFill>
                  <a:srgbClr val="1E293B"/>
                </a:solidFill>
              </a:defRPr>
            </a:pPr>
            <a:r>
              <a:t>• Automated Excel MI Packs, Power BI &amp; Qlik Integration, VBA Macros &amp; Data Quality Engine</a:t>
            </a:r>
          </a:p>
          <a:p>
            <a:pPr>
              <a:spcAft>
                <a:spcPts val="2000"/>
              </a:spcAft>
              <a:defRPr sz="1800">
                <a:solidFill>
                  <a:srgbClr val="1E293B"/>
                </a:solidFill>
              </a:defRPr>
            </a:pPr>
            <a:r>
              <a:t>• Valuation Date: 30-Sep-2026 | Portfolio Premium: $1.29B GWP | Loss Ratio: 68.8%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Program Context &amp; Why This Platform Exists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Transitioning from Fragmented Spreadsheets to Governed Reinsurance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Old Way (Legacy Challenges)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Manual spreadsheets with broken formulas and mismatched totals across regions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Three isolated source systems (Treaties, Claims, Exposure) with duplicate records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No audit trail for unmapped regions, LOB codes, or status codes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Days spent manually producing monthly regional report packs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New Way (Platform Solution)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Automated ETL pipeline loading a single conformed star-schema warehouse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28 automated data quality, reconciliation &amp; trend checks on every load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Governed MI views standardizing metrics (Loss Ratio, Combined Ratio, Exposure)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One-click Excel MI pack, VBA automated validation, and interactive Power BI/Qlik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Platform Architecture &amp; Data Flow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End-to-End Governance from Source Ingestion to Executive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515258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15258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5152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Ingestion &amp; Staging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14949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System A (Treaties), System B (Claims), System C (Premium &amp; Exposure)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Raw data ingested into staging tables (stg_treaties, stg_claims, stg_premium)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Unmapped values routed to governed mapping tables (map_region, map_lob)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463040"/>
            <a:ext cx="3515258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8218" y="1463040"/>
            <a:ext cx="3515258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38218" y="1554480"/>
            <a:ext cx="35152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Quality &amp; Core Star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2194560"/>
            <a:ext cx="314949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28 DQ checks evaluate completeness, integrity, reconciliation &amp; trends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Invalid/corrupted rows quarantined to dq_failed_records; zero silent drops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Clean data loaded into dim_treaty, dim_cedant, fact_premium, fact_claims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19236" y="1463040"/>
            <a:ext cx="3515258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19236" y="1463040"/>
            <a:ext cx="3515258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9236" y="1554480"/>
            <a:ext cx="351525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Analytics &amp;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2194560"/>
            <a:ext cx="314949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v_treaty_summary &amp; MI views enforce single metric definitions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Monthly_MI_Pack.xlsx with VBA macros, .eml draft, Power BI .pbip &amp; Qlik .qvs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Interactive 5-page web dashboard for live executive portfolio drilldowns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Interactive Dashboard &amp; Tooling Tour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Navigating the 5 Core Perspectives for Underwriters and Actuaries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45003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545003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5450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Executive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179243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KPI cards ($1,289.5M GWP, 68.8% Loss Ratio)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Regional premium breakdown (North America 40%)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Monthly premium vs incurred loss trend chart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963" y="1463040"/>
            <a:ext cx="2545003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67963" y="1463040"/>
            <a:ext cx="2545003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7963" y="1554480"/>
            <a:ext cx="25450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Portfolio Risk &amp; Watchlist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0843" y="2194560"/>
            <a:ext cx="2179243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Limit exposure ($8,911M total limit exposure)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Watchlist treaties table (Limit Utilisation &gt;= 80%)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Risk band segmentation (Critical, High, Medium, Low)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6" y="1463040"/>
            <a:ext cx="2545003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78726" y="1463040"/>
            <a:ext cx="2545003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8726" y="1554480"/>
            <a:ext cx="25450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Line of Business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606" y="2194560"/>
            <a:ext cx="2179243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5 Lines of Business: Property, Casualty, Marine, etc.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Loss Ratio &amp; Combined Ratio comparison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Underwriting year emergence curves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489" y="1463040"/>
            <a:ext cx="2545003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489" y="1463040"/>
            <a:ext cx="2545003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489" y="1554480"/>
            <a:ext cx="254500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Claims &amp; Data 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369" y="2194560"/>
            <a:ext cx="2179243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Top-N loss-making treaties and claim severity bands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Data quality health score (12 pass, 16 failing warnings)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Quarantined record audit log and mapping backlog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Hands-On Live Exercise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Investigating Portfolio Hotspots &amp; Regional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Exercise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Question: Identify the highest-risk Line of Business in North America.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Step 1: Filter Dashboard / Power BI to 'North America' region.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Step 2: Compare Loss Ratios across LOBs (Property NA vs Casualty NA).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Step 3: Check the Watchlist table for over-utilised treaties in that zone.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Key Findings &amp; Actuarial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Property NA has a loss ratio of 87.9% (+19.1 pts vs portfolio average of 68.8%).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Driven by 3 catastrophe claims exceeding $1.0M incurred in Peak Zone NA-CAT1.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Action: Refer Property NA treaties for underwriter review and limit cap adjustment.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Actuarial Metrics &amp; Terminology Standard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Eliminating Common Disputes Around Portfolio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Premium &amp; Loss Definitions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Gross Written Premium (GWP): Total premium committed on booked transactions.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Earned Premium: Pro-rata premium earned based on elapsed treaty coverage period.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Incurred Losses: Paid Claims + Open Case Reserves (excluding IBNR in v0.2).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Loss Ratio = Incurred Losses / Earned Premium (standard actuarial basis).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Underwriting Year vs Loss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Underwriting Year (UWY): Groups contracts by inception year (2021-2026).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Loss Date: Date when the catastrophe/loss event occurred.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Combined Ratio = Loss Ratio + Commission Ratio + Admin Expense Ratio (5%).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Open Share %: Percentage of incurred losses still in open/reopened status.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Data Quality Engine &amp; Reconciliation Proof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How We Guarantee Data Trust and Mathematical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Automated Reconciliation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Reconciliation Formula: Source Premium = Core Loaded Premium + Quarantined Premium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Rule Z01 &amp; Z02 prove zero dollars are unaccounted for or silently lost.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Exact Match: $1,289.5M loaded + $3.4M quarantined = $1,292.9M source premium.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Quarantine &amp; Exception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Quarantined records (e.g. invalid region 'XYZ', missing underwriter ID, orphan claims).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Quarantined rows do NOT flow into core MI views to prevent report distortion.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Quarantined rows are recorded in dq_failed_records for data steward correction.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Excel MI Pack &amp; VBA Macro Automation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Operational Guide to Running Monthly_MI_Pack.xlsx &amp; Macros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Excel Pack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Summary sheet: High-level executive KPIs, loss ratios, and regional totals.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Treaty_Data sheet: Full list of 700 treaties with live Excel SUMIFS formulas.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DQ_Log sheet: Real-time status of 28 data quality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VBA Macro Automation (ReportMacros.bas)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ValidatePack(): Pre-release audit checking for cell errors and GWP tie-outs.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SplitByRegion(): Automatically splits pack into 6 regional workbooks.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ExportSummaryPdf(): Saves PDF executive summary for distribution.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RefreshPack(): Recalculates all formulas and updates timestamp.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8. Power BI Project (.pbip) &amp; DAX Measure Library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Enterprise Business Intelligence Model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Power BI Star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Conformed treaty dimension (dim_treaty) linking dim_cedant, dim_region, dim_lob.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Fact tables: fact_premium, fact_claims, fact_exposure linked to dim_date.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Single direction 1:N relationships prevent fan-out and double-counting.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28 Governed DAX Measures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Base Measures: [Gross Written Premium], [Earned Premium], [Incurred Losses]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Ratio Measures: [Loss Ratio], [Commission Ratio], [Combined Ratio]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Time Intelligence: [GWP Prior Year], [GWP YoY Growth], [Loss Ratio Rolling 12M]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Dynamic Insight Text: Auto-generates natural language regional insights.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9. Qlik Sense Application Architecture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QVS Scripting &amp; In-Memory Associative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Qlik Load Script (Reinsurance_Analytics.qvs)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Automated mapping tables (Map_LOB, Map_Region, Map_Currency, Map_Status).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Master Calendar generator converting raw dates into fiscal quarters &amp; months.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Star schema loading directly from clean CSV exports in data/core_csv/.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Qlik Master Items &amp; Interactive Sheets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Master Measures: Sum(incurred_amount)/Sum(earned_premium), Combined Ratio.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Executive Overview, Portfolio Risk, LOB, Claims, and DQ Health sheets.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Associative engine enables instant multi-dimensional filtering across regions.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10. User Acceptance Testing &amp; Quality Assurance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39 Automated Regression Tests &amp; Verification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Automated UAT Suite (python/uat_tests.py)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A01-A17: Planted Error Detection (100% recall verified against answer key).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B01-B08: Database Integrity &amp; Reconciliation (zero orphan records in core).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C01-C03: SQL Query Integrity &amp; View vs Fact Loss Ratio tie-out.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D01-D05: Report Tie-Outs (Excel pack and Dashboard match SQL exactly).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VBA &amp; Manual UAT Test Cases (M01-M05)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M03: ValidatePack execution verified (16 DQ warnings reported).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M04: ValidatePack GWP mismatch detection verified ('Do NOT send' flag).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M05: SplitByRegion verified (6 regional workbooks generated, 700 total rows).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11. Data Governance &amp; Mapping Procedure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Operational Workflow for Adding New Regions, LOBs, and Currencies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Identifying Unmapped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Run query Q14 or inspect v_unmapped_values view.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Identifies raw codes from source systems that lack an explicit mapping.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Example: Raw LOB code 'FIN' arriving in System A treaties.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Executing Governance Script (add_mapping.py)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Run command: python python/add_mapping.py lob FIN "Financial Lines"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Appends mapping to mappings/map_lob.csv with audit user &amp; timestamp.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Next pipeline run re-classifies quarantined records automatically into core.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12. Portfolio Key Insights &amp; Actuarial Findings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Summary Findings from the Valuation Date (30-Sep-2026)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Regional &amp; Line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Total GWP: $1,289.5M | Earned Premium: $1,282.4M | Incurred Losses: $882.0M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North America: Largest region ($513.3M GWP, 40% share) with 73.8% loss ratio.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Property Line: Highest claims ($385.2M incurred, 43.7% share of total claims).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Risk Watchlist &amp; Accumulations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14 Treaties on Critical Watchlist (Limit Utilisation &gt;= 80%).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Peak Zone Catastrophe exposure concentrated in Zone NA-CAT1 ($2.1B limit exposure).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Data Quality: 252 source records quarantined (3.1% of total source transactions).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13. Monthly Operational Calendar &amp; SLA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Standard Operating Procedure for the Reinsurance Analytics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Monthly Timeline (Work Days 1 to 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WD 1: Source data extracts received from Systems A, B, and C.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WD 2: Run pipeline (python python/run_all.py --regen). Inspect DQ log.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WD 3: Resolve unmapped values via add_mapping.py and re-run pipeline.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WD 4: Run VBA ValidatePack on Monthly_MI_Pack.xlsx; generate regional packs.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WD 5: Distribute Monthly_MI_Email.eml draft &amp; publish Power BI / Qlik dashboards.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Roles &amp;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Data Steward: Owns mapping tables and investigates quarantined records.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Actuarial Analyst: Reviews loss ratios, combined ratios, and emergence curves.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Lead Actuary: Signs off monthly MI pack and presents to senior 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14. Enhancement Backlog &amp; Future Roadmap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Planned Upgrades for ant-reinsurance-analytics v1.0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Actuarial &amp; Modeling Upgrades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1. IBNR / Ultimate Loss Estimates: Adding triangle development &amp; chain-ladder method.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2. Historical FX Basis: Dynamic FX rate lookup by transaction date.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3. Treaty Renewal Analytics: Tracking rate changes and lapse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 Infrastructure Upgrades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4. PostgreSQL Production Deployment: Migrating core SQLite to PostgreSQL 15.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5. Automated Email Distribution: Direct SMTP integration for regional MI packs.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6. Historical Snapshot Store: Month-over-month variance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15. Summary &amp; Best Practices for Reinsurance Analysts</a:t>
            </a:r>
          </a:p>
          <a:p>
            <a:pPr>
              <a:defRPr sz="1400">
                <a:solidFill>
                  <a:srgbClr val="C8DCFF"/>
                </a:solidFill>
              </a:defRPr>
            </a:pPr>
            <a:r>
              <a:t>Core Principles for Success in AXA XL Reinsurance Portfolio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Always verify reconciliation (Source = Core + Quarantined) before sending reports.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Never modify core formulas in Monthly_MI_Pack.xlsx; use v_treaty_summary view.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Run VBA ValidatePack macro as your mandatory pre-release audit gate.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Refer to docs/Data_Dictionary.xlsx and docs/User_Guide.md for metric definitions.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463040"/>
            <a:ext cx="5455767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8727" y="1463040"/>
            <a:ext cx="5455767" cy="64008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554480"/>
            <a:ext cx="545576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Support &amp; Contacts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1607" y="2194560"/>
            <a:ext cx="5090007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Team: AXA XL Reinsurance Portfolio Analytics (Gurgaon / Global)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Lead: Corporate Actuarial | Repository: reinsurance-analytics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</a:defRPr>
            </a:pPr>
            <a:r>
              <a:t>• Documentation: docs/User_Guide.md | UAT Log: docs/UAT_Test_Plan.md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